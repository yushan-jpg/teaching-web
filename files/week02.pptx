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0" d="100"/>
          <a:sy n="50" d="100"/>
        </p:scale>
        <p:origin x="89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6574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2 週｜工作對個人的意義與價值再定義
開場：回顧上週重點，說明本週在課程架構中的位置。
本週核心訊息：薪水買得到出席，買不到投入。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逐項朗讀學習目標，請學生在課末自評達成程度。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重點講授：馬斯洛需求層次在職場的對應
1. 生理與安全需求：薪資、勞健保、穩定的工時
2. 社會需求：團隊歸屬、同事關係、被接納
3. 尊重需求：專業被認可、意見被採納、職稱與影響力
4. 自我實現：能力被充分發揮，工作與個人價值一致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重點講授：內在動機 vs. 外在報酬
1. 外在報酬：薪資、獎金、頭銜——效果強但衰退快
2. 內在動機：自主性、精熟感、目的感——啟動慢但續航長
3. 過度依賴外在報酬會侵蝕內在動機（過度辯證效應）
4. 健康的職涯需要兩者並存，而非二選一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重點講授：打造自我驅動的職涯心態
1. 把工作重新框架為「能力練習場」而非「時間交易」
2. 在既有職務中主動設計挑戰（Job Crafting）
3. 建立可見的進步紀錄，讓成長被自己看見
4. 定期檢視：這份工作正在把我變成什麼樣的人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活動：工作意義重寫
1. 個人寫下目前對「工作」的一句話定義
2. 依內在動機三要素（自主、精熟、目的）改寫該定義
3. 小組互評：哪一版比較能支撐未來五年
收尾時請點名 2 至 3 組分享，並連結到本週的課後討論題。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提醒學生：本週訓練的能力對應課程整體的三力架構，並會在期末成果展演中被檢視。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課後討論題：當工作僅剩下「薪水」時，人容易陷入疲態。除了薪水之外，還有哪三項要素能支撐你的工作熱情？
請學生於下次上課前於學習平台繳交 200 字以內回應。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9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職場倫理與溝通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823960" y="5029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93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115 學年度第 1 學期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32588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275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704088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07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834640" y="1371600"/>
            <a:ext cx="8732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工作對個人的意義與價值再定義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834640" y="2816352"/>
            <a:ext cx="8732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9C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Redefining the Meaning and Value of Work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834640" y="3182112"/>
            <a:ext cx="8732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9C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Định nghĩa lại ý nghĩa và giá trị của công việc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834640" y="3977640"/>
            <a:ext cx="8732520" cy="1234440"/>
          </a:xfrm>
          <a:prstGeom prst="roundRect">
            <a:avLst>
              <a:gd name="adj" fmla="val 5926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3108960" y="4160520"/>
            <a:ext cx="8183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模組一：工作與個人價值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08960" y="4480560"/>
            <a:ext cx="8183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D6E4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薪水買得到出席，買不到投入。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7B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Workplace Ethics and Communication  ·  Đạo đức và Giao tiếp nơi làm việc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模組一：工作與個人價值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本週學習目標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học tập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75688"/>
            <a:ext cx="10972800" cy="1051560"/>
          </a:xfrm>
          <a:prstGeom prst="roundRect">
            <a:avLst>
              <a:gd name="adj" fmla="val 5217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60120" y="2372868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960120" y="23728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00200" y="2221992"/>
            <a:ext cx="9601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以馬斯洛需求層次分析工作在個人生活中的定位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3383280"/>
            <a:ext cx="10972800" cy="1051560"/>
          </a:xfrm>
          <a:prstGeom prst="roundRect">
            <a:avLst>
              <a:gd name="adj" fmla="val 5217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960120" y="3680460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960120" y="36804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00200" y="3529584"/>
            <a:ext cx="9601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區辨內在動機與外在報酬對工作續航力的影響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" y="4690872"/>
            <a:ext cx="10972800" cy="1051560"/>
          </a:xfrm>
          <a:prstGeom prst="roundRect">
            <a:avLst>
              <a:gd name="adj" fmla="val 5217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960120" y="4988052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960120" y="49880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00200" y="4837176"/>
            <a:ext cx="9601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以個人語言重新定義「工作」的意義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模組一：工作與個人價值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馬斯洛需求層次在職場的對應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Maslow's Hierarchy at Work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Tháp nhu cầu Maslow tại nơi làm việc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75688"/>
            <a:ext cx="5326380" cy="1938528"/>
          </a:xfrm>
          <a:prstGeom prst="roundRect">
            <a:avLst>
              <a:gd name="adj" fmla="val 2830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886968" y="2350008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886968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6968" y="2916936"/>
            <a:ext cx="4741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生理與安全需求：薪資、勞健保、穩定的工時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40780" y="2075688"/>
            <a:ext cx="5326380" cy="1938528"/>
          </a:xfrm>
          <a:prstGeom prst="roundRect">
            <a:avLst>
              <a:gd name="adj" fmla="val 2830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6533388" y="2350008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6533388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33388" y="2916936"/>
            <a:ext cx="4741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社會需求：團隊歸屬、同事關係、被接納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" y="4306824"/>
            <a:ext cx="5326380" cy="1938528"/>
          </a:xfrm>
          <a:prstGeom prst="roundRect">
            <a:avLst>
              <a:gd name="adj" fmla="val 2830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886968" y="4581144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886968" y="4581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968" y="5148072"/>
            <a:ext cx="4741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尊重需求：專業被認可、意見被採納、職稱與影響力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40780" y="4306824"/>
            <a:ext cx="5326380" cy="1938528"/>
          </a:xfrm>
          <a:prstGeom prst="roundRect">
            <a:avLst>
              <a:gd name="adj" fmla="val 2830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6533388" y="4581144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6533388" y="4581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33388" y="5148072"/>
            <a:ext cx="4741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自我實現：能力被充分發揮，工作與個人價值一致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模組一：工作與個人價值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內在動機 vs. 外在報酬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Intrinsic vs. Extrinsic Motivation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Động lực nội tại và phần thưởng bên ngoài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48256"/>
            <a:ext cx="10972800" cy="1024128"/>
          </a:xfrm>
          <a:prstGeom prst="roundRect">
            <a:avLst>
              <a:gd name="adj" fmla="val 4464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14400" y="2359152"/>
            <a:ext cx="402336" cy="402336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914400" y="2359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54480" y="2139696"/>
            <a:ext cx="9646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外在報酬：薪資、獎金、頭銜——效果強但衰退快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3236976"/>
            <a:ext cx="10972800" cy="1024128"/>
          </a:xfrm>
          <a:prstGeom prst="roundRect">
            <a:avLst>
              <a:gd name="adj" fmla="val 4464"/>
            </a:avLst>
          </a:prstGeom>
          <a:solidFill>
            <a:srgbClr val="E9F0F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914400" y="3547872"/>
            <a:ext cx="402336" cy="402336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914400" y="3547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54480" y="3328416"/>
            <a:ext cx="9646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內在動機：自主性、精熟感、目的感——啟動慢但續航長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4360" y="4425696"/>
            <a:ext cx="10972800" cy="1024128"/>
          </a:xfrm>
          <a:prstGeom prst="roundRect">
            <a:avLst>
              <a:gd name="adj" fmla="val 4464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914400" y="4736592"/>
            <a:ext cx="402336" cy="402336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914400" y="4736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54480" y="4517136"/>
            <a:ext cx="9646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過度依賴外在報酬會侵蝕內在動機（過度辯證效應）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94360" y="5614416"/>
            <a:ext cx="10972800" cy="1024128"/>
          </a:xfrm>
          <a:prstGeom prst="roundRect">
            <a:avLst>
              <a:gd name="adj" fmla="val 4464"/>
            </a:avLst>
          </a:prstGeom>
          <a:solidFill>
            <a:srgbClr val="E9F0F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914400" y="5925312"/>
            <a:ext cx="402336" cy="402336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914400" y="5925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554480" y="5705856"/>
            <a:ext cx="9646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健康的職涯需要兩者並存，而非二選一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模組一：工作與個人價值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打造自我驅動的職涯心態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 Self-Driven Mindset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Xây dựng tư duy chủ động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48256"/>
            <a:ext cx="3246120" cy="4297680"/>
          </a:xfrm>
          <a:prstGeom prst="roundRect">
            <a:avLst>
              <a:gd name="adj" fmla="val 2254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914400" y="2304288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2E5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核心概念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376732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8FA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Concept  ·  Khái niệm cốt lõi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4544568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350" i="1" dirty="0">
                <a:solidFill>
                  <a:srgbClr val="D6E4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薪水買得到出席，買不到投入。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206240" y="2340864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4206240" y="2340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73168" y="2048256"/>
            <a:ext cx="67939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把工作重新框架為「能力練習場」而非「時間交易」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206240" y="3447288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4206240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73168" y="3154680"/>
            <a:ext cx="67939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在既有職務中主動設計挑戰（Job Crafting）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4206240" y="4553712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4206240" y="4553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73168" y="4261104"/>
            <a:ext cx="67939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建立可見的進步紀錄，讓成長被自己看見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4206240" y="5660136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4206240" y="5660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73168" y="5367528"/>
            <a:ext cx="67939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定期檢視：這份工作正在把我變成什麼樣的人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模組一：工作與個人價值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課堂活動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In-Class Activity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Hoạt động trên lớp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1984248"/>
            <a:ext cx="10972800" cy="713232"/>
          </a:xfrm>
          <a:prstGeom prst="roundRect">
            <a:avLst>
              <a:gd name="adj" fmla="val 7692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960120" y="19842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工作意義重寫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94360" y="2990088"/>
            <a:ext cx="3474720" cy="2606040"/>
          </a:xfrm>
          <a:prstGeom prst="roundRect">
            <a:avLst>
              <a:gd name="adj" fmla="val 2105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2080260" y="3310128"/>
            <a:ext cx="502920" cy="502920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2080260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3995928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個人寫下目前對「工作」的一句話定義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43400" y="2990088"/>
            <a:ext cx="3474720" cy="2606040"/>
          </a:xfrm>
          <a:prstGeom prst="roundRect">
            <a:avLst>
              <a:gd name="adj" fmla="val 2105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5829300" y="3310128"/>
            <a:ext cx="502920" cy="502920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5829300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17720" y="3995928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依內在動機三要素（自主、精熟、目的）改寫該定義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92440" y="2990088"/>
            <a:ext cx="3474720" cy="2606040"/>
          </a:xfrm>
          <a:prstGeom prst="roundRect">
            <a:avLst>
              <a:gd name="adj" fmla="val 2105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9578340" y="3310128"/>
            <a:ext cx="502920" cy="502920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9578340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66760" y="3995928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小組互評：哪一版比較能支撐未來五年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" y="58247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建議時間：40 分鐘（個人 10 分鐘 · 小組 20 分鐘 · 全班收斂 10 分鐘）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模組一：工作與個人價值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能力培育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Competency Development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Phát triển năng lực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121408"/>
            <a:ext cx="5303520" cy="3246120"/>
          </a:xfrm>
          <a:prstGeom prst="roundRect">
            <a:avLst>
              <a:gd name="adj" fmla="val 2254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60120" y="2532888"/>
            <a:ext cx="868680" cy="86868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960120" y="253288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理解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60120" y="35844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理解力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60120" y="3968496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釐清個人價值觀的優先排序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63640" y="2121408"/>
            <a:ext cx="5303520" cy="3246120"/>
          </a:xfrm>
          <a:prstGeom prst="roundRect">
            <a:avLst>
              <a:gd name="adj" fmla="val 2254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6629400" y="2532888"/>
            <a:ext cx="868680" cy="86868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6629400" y="253288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創造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629400" y="35844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創造力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629400" y="3968496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重構對「勞動與工作」的個人詮釋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94360" y="5614416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1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三力整合：理解力（輸入）→ 創造力（轉化）→ 溝通力（輸出）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29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模組一：工作與個人價值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9F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課後討論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9C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Question</a:t>
            </a:r>
            <a:r>
              <a:rPr lang="en-US" sz="1150" dirty="0">
                <a:solidFill>
                  <a:srgbClr val="6E8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A9C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Câu hỏi thảo luận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75688"/>
            <a:ext cx="10972800" cy="2743200"/>
          </a:xfrm>
          <a:prstGeom prst="roundRect">
            <a:avLst>
              <a:gd name="adj" fmla="val 2667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1097280" y="2304288"/>
            <a:ext cx="9966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當工作僅剩下「薪水」時，人容易陷入疲態。除了薪水之外，還有哪三項要素能支撐你的工作熱情？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" y="51206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本週核心訊息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5440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i="1" dirty="0">
                <a:solidFill>
                  <a:srgbClr val="D6E4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薪水買得到出席，買不到投入。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563</Words>
  <Application>Microsoft Office PowerPoint</Application>
  <PresentationFormat>寬螢幕</PresentationFormat>
  <Paragraphs>106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1" baseType="lpstr">
      <vt:lpstr>Microsoft JhengHei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職場倫理與溝通｜第 2 週</dc:title>
  <dc:subject>PptxGenJS Presentation</dc:subject>
  <dc:creator>敏實科技大學 餐飲管理系</dc:creator>
  <cp:lastModifiedBy>玉山 劉</cp:lastModifiedBy>
  <cp:revision>1</cp:revision>
  <dcterms:created xsi:type="dcterms:W3CDTF">2026-08-25T05:14:20Z</dcterms:created>
  <dcterms:modified xsi:type="dcterms:W3CDTF">2026-08-25T11:01:41Z</dcterms:modified>
</cp:coreProperties>
</file>
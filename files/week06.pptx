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0" d="100"/>
          <a:sy n="50" d="100"/>
        </p:scale>
        <p:origin x="89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76451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6 週｜快速適應企業文化與組織社交力
開場：回顧上週重點，說明本週在課程架構中的位置。
本週核心訊息：新人最稀缺的不是能力，而是可靠。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逐項朗讀學習目標，請學生在課末自評達成程度。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重點講授：入職黃金 90 天
1. 前 30 天：大量提問與觀察，先理解再建議
2. 31 至 60 天：完成一件可見的小交付，建立可靠印象
3. 61 至 90 天：主動承接一項具挑戰性的任務
4. 全程記錄「不懂清單」，避免重複詢問同一件事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重點講授：建立跨部門網絡
1. 三種必要關係：直屬主管、同儕夥伴、跨部門窗口
2. 弱連結的價值：資訊與機會多半來自非核心圈
3. 具體做法：午餐邀約、請教專業問題、主動回報進度
4. 先給予再索取：協助他人是最低成本的建立信任方式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重點講授：融入而不失去自我
1. 區分「文化規範」與「個人底線」：前者可調整，後者不讓步
2. 拒絕的技巧：肯定關係、說明限制、提供替代方案
3. 觀察期不等於沉默期，適度表達才會被看見
4. 記錄自己被要求妥協的次數，作為文化適配度的訊號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活動：90 天上工計畫
1. 個人撰寫三階段行動表，每階段列出兩項具體行為
2. 兩人一組，演練一次「向前輩請教」的開場
3. 收斂討論：哪些行為在任何產業都適用
收尾時請點名 2 至 3 組分享，並連結到本週的課後討論題。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提醒學生：本週訓練的能力對應課程整體的三力架構，並會在期末成果展演中被檢視。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課後討論題：剛進入新公司時，你會採取哪些具體的行動來快速熟悉團隊成員並融入文化？
請學生於下次上課前於學習平台繳交 200 字以內回應。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9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07D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職場倫理與溝通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823960" y="50292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A93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115 學年度第 1 學期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132588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0" b="1" dirty="0">
                <a:solidFill>
                  <a:srgbClr val="275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8800" dirty="0"/>
          </a:p>
        </p:txBody>
      </p:sp>
      <p:sp>
        <p:nvSpPr>
          <p:cNvPr id="5" name="Text 3"/>
          <p:cNvSpPr/>
          <p:nvPr/>
        </p:nvSpPr>
        <p:spPr>
          <a:xfrm>
            <a:off x="704088" y="2697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B07D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834640" y="1371600"/>
            <a:ext cx="8732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4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快速適應企業文化與組織社交力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2834640" y="2816352"/>
            <a:ext cx="8732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A9C0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Adapting Fast — Onboarding and Workplace Networking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834640" y="3182112"/>
            <a:ext cx="8732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A9C0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Thích nghi nhanh và kỹ năng xã giao nơi làm việc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834640" y="3977640"/>
            <a:ext cx="8732520" cy="1234440"/>
          </a:xfrm>
          <a:prstGeom prst="roundRect">
            <a:avLst>
              <a:gd name="adj" fmla="val 5926"/>
            </a:avLst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3108960" y="4160520"/>
            <a:ext cx="8183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07D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模組二：企業文化與組織適應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108960" y="4480560"/>
            <a:ext cx="8183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D6E4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新人最稀缺的不是能力，而是可靠。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94360" y="5989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E7B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Workplace Ethics and Communication  ·  Đạo đức và Giao tiếp nơi làm việc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B07D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模組二：企業文化與組織適應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555480" y="2926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100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06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B3A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本週學習目標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94360" y="1243584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Objectives</a:t>
            </a:r>
            <a:r>
              <a:rPr lang="en-US" sz="1150" dirty="0">
                <a:solidFill>
                  <a:srgbClr val="A8B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|   </a:t>
            </a:r>
            <a:r>
              <a:rPr lang="en-US" sz="1150" i="1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Mục tiêu học tập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94360" y="2075688"/>
            <a:ext cx="10972800" cy="1051560"/>
          </a:xfrm>
          <a:prstGeom prst="roundRect">
            <a:avLst>
              <a:gd name="adj" fmla="val 5217"/>
            </a:avLst>
          </a:prstGeom>
          <a:solidFill>
            <a:srgbClr val="F3F7F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960120" y="2372868"/>
            <a:ext cx="457200" cy="457200"/>
          </a:xfrm>
          <a:prstGeom prst="ellipse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960120" y="23728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600200" y="2221992"/>
            <a:ext cx="960120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60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規劃新人入職 90 天的行動節奏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94360" y="3383280"/>
            <a:ext cx="10972800" cy="1051560"/>
          </a:xfrm>
          <a:prstGeom prst="roundRect">
            <a:avLst>
              <a:gd name="adj" fmla="val 5217"/>
            </a:avLst>
          </a:prstGeom>
          <a:solidFill>
            <a:srgbClr val="F3F7F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1" name="Shape 9"/>
          <p:cNvSpPr/>
          <p:nvPr/>
        </p:nvSpPr>
        <p:spPr>
          <a:xfrm>
            <a:off x="960120" y="3680460"/>
            <a:ext cx="457200" cy="457200"/>
          </a:xfrm>
          <a:prstGeom prst="ellipse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960120" y="36804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600200" y="3529584"/>
            <a:ext cx="960120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60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建立跨部門的人際網絡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94360" y="4690872"/>
            <a:ext cx="10972800" cy="1051560"/>
          </a:xfrm>
          <a:prstGeom prst="roundRect">
            <a:avLst>
              <a:gd name="adj" fmla="val 5217"/>
            </a:avLst>
          </a:prstGeom>
          <a:solidFill>
            <a:srgbClr val="F3F7F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5" name="Shape 13"/>
          <p:cNvSpPr/>
          <p:nvPr/>
        </p:nvSpPr>
        <p:spPr>
          <a:xfrm>
            <a:off x="960120" y="4988052"/>
            <a:ext cx="457200" cy="457200"/>
          </a:xfrm>
          <a:prstGeom prst="ellipse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4"/>
          <p:cNvSpPr/>
          <p:nvPr/>
        </p:nvSpPr>
        <p:spPr>
          <a:xfrm>
            <a:off x="960120" y="49880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600200" y="4837176"/>
            <a:ext cx="960120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60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在融入團隊的同時維持個人界線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B07D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模組二：企業文化與組織適應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555480" y="2926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100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06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B3A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入職黃金 90 天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94360" y="1243584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First 90 Days</a:t>
            </a:r>
            <a:r>
              <a:rPr lang="en-US" sz="1150" dirty="0">
                <a:solidFill>
                  <a:srgbClr val="A8B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|   </a:t>
            </a:r>
            <a:r>
              <a:rPr lang="en-US" sz="1150" i="1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 ngày đầu tiên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94360" y="2075688"/>
            <a:ext cx="5326380" cy="1938528"/>
          </a:xfrm>
          <a:prstGeom prst="roundRect">
            <a:avLst>
              <a:gd name="adj" fmla="val 2830"/>
            </a:avLst>
          </a:prstGeom>
          <a:solidFill>
            <a:srgbClr val="F3F7F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886968" y="2350008"/>
            <a:ext cx="384048" cy="384048"/>
          </a:xfrm>
          <a:prstGeom prst="ellipse">
            <a:avLst/>
          </a:prstGeom>
          <a:solidFill>
            <a:srgbClr val="B07D4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886968" y="23500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86968" y="2916936"/>
            <a:ext cx="474116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40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前 30 天：大量提問與觀察，先理解再建議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40780" y="2075688"/>
            <a:ext cx="5326380" cy="1938528"/>
          </a:xfrm>
          <a:prstGeom prst="roundRect">
            <a:avLst>
              <a:gd name="adj" fmla="val 2830"/>
            </a:avLst>
          </a:prstGeom>
          <a:solidFill>
            <a:srgbClr val="F3F7F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1" name="Shape 9"/>
          <p:cNvSpPr/>
          <p:nvPr/>
        </p:nvSpPr>
        <p:spPr>
          <a:xfrm>
            <a:off x="6533388" y="2350008"/>
            <a:ext cx="384048" cy="384048"/>
          </a:xfrm>
          <a:prstGeom prst="ellipse">
            <a:avLst/>
          </a:prstGeom>
          <a:solidFill>
            <a:srgbClr val="B07D4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6533388" y="23500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533388" y="2916936"/>
            <a:ext cx="474116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40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31 至 60 天：完成一件可見的小交付，建立可靠印象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94360" y="4306824"/>
            <a:ext cx="5326380" cy="1938528"/>
          </a:xfrm>
          <a:prstGeom prst="roundRect">
            <a:avLst>
              <a:gd name="adj" fmla="val 2830"/>
            </a:avLst>
          </a:prstGeom>
          <a:solidFill>
            <a:srgbClr val="F3F7F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5" name="Shape 13"/>
          <p:cNvSpPr/>
          <p:nvPr/>
        </p:nvSpPr>
        <p:spPr>
          <a:xfrm>
            <a:off x="886968" y="4581144"/>
            <a:ext cx="384048" cy="384048"/>
          </a:xfrm>
          <a:prstGeom prst="ellipse">
            <a:avLst/>
          </a:prstGeom>
          <a:solidFill>
            <a:srgbClr val="B07D4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4"/>
          <p:cNvSpPr/>
          <p:nvPr/>
        </p:nvSpPr>
        <p:spPr>
          <a:xfrm>
            <a:off x="886968" y="45811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86968" y="5148072"/>
            <a:ext cx="474116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40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61 至 90 天：主動承接一項具挑戰性的任務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240780" y="4306824"/>
            <a:ext cx="5326380" cy="1938528"/>
          </a:xfrm>
          <a:prstGeom prst="roundRect">
            <a:avLst>
              <a:gd name="adj" fmla="val 2830"/>
            </a:avLst>
          </a:prstGeom>
          <a:solidFill>
            <a:srgbClr val="F3F7F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9" name="Shape 17"/>
          <p:cNvSpPr/>
          <p:nvPr/>
        </p:nvSpPr>
        <p:spPr>
          <a:xfrm>
            <a:off x="6533388" y="4581144"/>
            <a:ext cx="384048" cy="384048"/>
          </a:xfrm>
          <a:prstGeom prst="ellipse">
            <a:avLst/>
          </a:prstGeom>
          <a:solidFill>
            <a:srgbClr val="B07D4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0" name="Text 18"/>
          <p:cNvSpPr/>
          <p:nvPr/>
        </p:nvSpPr>
        <p:spPr>
          <a:xfrm>
            <a:off x="6533388" y="45811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533388" y="5148072"/>
            <a:ext cx="474116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40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全程記錄「不懂清單」，避免重複詢問同一件事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B07D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模組二：企業文化與組織適應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555480" y="2926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100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06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B3A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建立跨部門網絡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94360" y="1243584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Cross-Department Networks</a:t>
            </a:r>
            <a:r>
              <a:rPr lang="en-US" sz="1150" dirty="0">
                <a:solidFill>
                  <a:srgbClr val="A8B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|   </a:t>
            </a:r>
            <a:r>
              <a:rPr lang="en-US" sz="1150" i="1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Xây dựng mạng lưới liên phòng ban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94360" y="2048256"/>
            <a:ext cx="10972800" cy="1024128"/>
          </a:xfrm>
          <a:prstGeom prst="roundRect">
            <a:avLst>
              <a:gd name="adj" fmla="val 4464"/>
            </a:avLst>
          </a:prstGeom>
          <a:solidFill>
            <a:srgbClr val="F3F7F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914400" y="2359152"/>
            <a:ext cx="402336" cy="402336"/>
          </a:xfrm>
          <a:prstGeom prst="ellipse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914400" y="23591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554480" y="2139696"/>
            <a:ext cx="9646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50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三種必要關係：直屬主管、同儕夥伴、跨部門窗口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94360" y="3236976"/>
            <a:ext cx="10972800" cy="1024128"/>
          </a:xfrm>
          <a:prstGeom prst="roundRect">
            <a:avLst>
              <a:gd name="adj" fmla="val 4464"/>
            </a:avLst>
          </a:prstGeom>
          <a:solidFill>
            <a:srgbClr val="E9F0F6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1" name="Shape 9"/>
          <p:cNvSpPr/>
          <p:nvPr/>
        </p:nvSpPr>
        <p:spPr>
          <a:xfrm>
            <a:off x="914400" y="3547872"/>
            <a:ext cx="402336" cy="402336"/>
          </a:xfrm>
          <a:prstGeom prst="ellipse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914400" y="35478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554480" y="3328416"/>
            <a:ext cx="9646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50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弱連結的價值：資訊與機會多半來自非核心圈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94360" y="4425696"/>
            <a:ext cx="10972800" cy="1024128"/>
          </a:xfrm>
          <a:prstGeom prst="roundRect">
            <a:avLst>
              <a:gd name="adj" fmla="val 4464"/>
            </a:avLst>
          </a:prstGeom>
          <a:solidFill>
            <a:srgbClr val="F3F7F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5" name="Shape 13"/>
          <p:cNvSpPr/>
          <p:nvPr/>
        </p:nvSpPr>
        <p:spPr>
          <a:xfrm>
            <a:off x="914400" y="4736592"/>
            <a:ext cx="402336" cy="402336"/>
          </a:xfrm>
          <a:prstGeom prst="ellipse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4"/>
          <p:cNvSpPr/>
          <p:nvPr/>
        </p:nvSpPr>
        <p:spPr>
          <a:xfrm>
            <a:off x="914400" y="47365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554480" y="4517136"/>
            <a:ext cx="9646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50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具體做法：午餐邀約、請教專業問題、主動回報進度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94360" y="5614416"/>
            <a:ext cx="10972800" cy="1024128"/>
          </a:xfrm>
          <a:prstGeom prst="roundRect">
            <a:avLst>
              <a:gd name="adj" fmla="val 4464"/>
            </a:avLst>
          </a:prstGeom>
          <a:solidFill>
            <a:srgbClr val="E9F0F6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9" name="Shape 17"/>
          <p:cNvSpPr/>
          <p:nvPr/>
        </p:nvSpPr>
        <p:spPr>
          <a:xfrm>
            <a:off x="914400" y="5925312"/>
            <a:ext cx="402336" cy="402336"/>
          </a:xfrm>
          <a:prstGeom prst="ellipse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0" name="Text 18"/>
          <p:cNvSpPr/>
          <p:nvPr/>
        </p:nvSpPr>
        <p:spPr>
          <a:xfrm>
            <a:off x="914400" y="59253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554480" y="5705856"/>
            <a:ext cx="9646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50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先給予再索取：協助他人是最低成本的建立信任方式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B07D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模組二：企業文化與組織適應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555480" y="2926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100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06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B3A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融入而不失去自我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94360" y="1243584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Fitting In Without Losing Yourself</a:t>
            </a:r>
            <a:r>
              <a:rPr lang="en-US" sz="1150" dirty="0">
                <a:solidFill>
                  <a:srgbClr val="A8B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|   </a:t>
            </a:r>
            <a:r>
              <a:rPr lang="en-US" sz="1150" i="1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Hòa nhập mà không đánh mất bản thân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94360" y="2048256"/>
            <a:ext cx="3246120" cy="4297680"/>
          </a:xfrm>
          <a:prstGeom prst="roundRect">
            <a:avLst>
              <a:gd name="adj" fmla="val 2254"/>
            </a:avLst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914400" y="2304288"/>
            <a:ext cx="2606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2E5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914400" y="338328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B07D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核心概念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14400" y="3767328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8FA9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Concept  ·  Khái niệm cốt lõi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4544568"/>
            <a:ext cx="2606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350" i="1" dirty="0">
                <a:solidFill>
                  <a:srgbClr val="D6E4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新人最稀缺的不是能力，而是可靠。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206240" y="2340864"/>
            <a:ext cx="384048" cy="384048"/>
          </a:xfrm>
          <a:prstGeom prst="ellipse">
            <a:avLst/>
          </a:prstGeom>
          <a:solidFill>
            <a:srgbClr val="B07D4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4206240" y="23408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73168" y="2048256"/>
            <a:ext cx="6793992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45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區分「文化規範」與「個人底線」：前者可調整，後者不讓步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4206240" y="3447288"/>
            <a:ext cx="384048" cy="384048"/>
          </a:xfrm>
          <a:prstGeom prst="ellipse">
            <a:avLst/>
          </a:prstGeom>
          <a:solidFill>
            <a:srgbClr val="B07D4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/>
          <p:nvPr/>
        </p:nvSpPr>
        <p:spPr>
          <a:xfrm>
            <a:off x="4206240" y="3447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73168" y="3154680"/>
            <a:ext cx="6793992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45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拒絕的技巧：肯定關係、說明限制、提供替代方案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4206240" y="4553712"/>
            <a:ext cx="384048" cy="384048"/>
          </a:xfrm>
          <a:prstGeom prst="ellipse">
            <a:avLst/>
          </a:prstGeom>
          <a:solidFill>
            <a:srgbClr val="B07D4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6"/>
          <p:cNvSpPr/>
          <p:nvPr/>
        </p:nvSpPr>
        <p:spPr>
          <a:xfrm>
            <a:off x="4206240" y="45537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73168" y="4261104"/>
            <a:ext cx="6793992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45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觀察期不等於沉默期，適度表達才會被看見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4206240" y="5660136"/>
            <a:ext cx="384048" cy="384048"/>
          </a:xfrm>
          <a:prstGeom prst="ellipse">
            <a:avLst/>
          </a:prstGeom>
          <a:solidFill>
            <a:srgbClr val="B07D4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1" name="Text 19"/>
          <p:cNvSpPr/>
          <p:nvPr/>
        </p:nvSpPr>
        <p:spPr>
          <a:xfrm>
            <a:off x="4206240" y="56601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773168" y="5367528"/>
            <a:ext cx="6793992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45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記錄自己被要求妥協的次數，作為文化適配度的訊號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B07D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模組二：企業文化與組織適應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555480" y="2926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100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06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B3A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課堂活動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94360" y="1243584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In-Class Activity</a:t>
            </a:r>
            <a:r>
              <a:rPr lang="en-US" sz="1150" dirty="0">
                <a:solidFill>
                  <a:srgbClr val="A8B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|   </a:t>
            </a:r>
            <a:r>
              <a:rPr lang="en-US" sz="1150" i="1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Hoạt động trên lớp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94360" y="1984248"/>
            <a:ext cx="10972800" cy="713232"/>
          </a:xfrm>
          <a:prstGeom prst="roundRect">
            <a:avLst>
              <a:gd name="adj" fmla="val 7692"/>
            </a:avLst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960120" y="1984248"/>
            <a:ext cx="10241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90 天上工計畫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594360" y="2990088"/>
            <a:ext cx="3474720" cy="2606040"/>
          </a:xfrm>
          <a:prstGeom prst="roundRect">
            <a:avLst>
              <a:gd name="adj" fmla="val 2105"/>
            </a:avLst>
          </a:prstGeom>
          <a:solidFill>
            <a:srgbClr val="F3F7F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9" name="Shape 7"/>
          <p:cNvSpPr/>
          <p:nvPr/>
        </p:nvSpPr>
        <p:spPr>
          <a:xfrm>
            <a:off x="2080260" y="3310128"/>
            <a:ext cx="502920" cy="502920"/>
          </a:xfrm>
          <a:prstGeom prst="ellipse">
            <a:avLst/>
          </a:prstGeom>
          <a:solidFill>
            <a:srgbClr val="B07D4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2080260" y="33101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68680" y="3995928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40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個人撰寫三階段行動表，每階段列出兩項具體行為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343400" y="2990088"/>
            <a:ext cx="3474720" cy="2606040"/>
          </a:xfrm>
          <a:prstGeom prst="roundRect">
            <a:avLst>
              <a:gd name="adj" fmla="val 2105"/>
            </a:avLst>
          </a:prstGeom>
          <a:solidFill>
            <a:srgbClr val="F3F7F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3" name="Shape 11"/>
          <p:cNvSpPr/>
          <p:nvPr/>
        </p:nvSpPr>
        <p:spPr>
          <a:xfrm>
            <a:off x="5829300" y="3310128"/>
            <a:ext cx="502920" cy="502920"/>
          </a:xfrm>
          <a:prstGeom prst="ellipse">
            <a:avLst/>
          </a:prstGeom>
          <a:solidFill>
            <a:srgbClr val="B07D4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4" name="Text 12"/>
          <p:cNvSpPr/>
          <p:nvPr/>
        </p:nvSpPr>
        <p:spPr>
          <a:xfrm>
            <a:off x="5829300" y="33101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617720" y="3995928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40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兩人一組，演練一次「向前輩請教」的開場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092440" y="2990088"/>
            <a:ext cx="3474720" cy="2606040"/>
          </a:xfrm>
          <a:prstGeom prst="roundRect">
            <a:avLst>
              <a:gd name="adj" fmla="val 2105"/>
            </a:avLst>
          </a:prstGeom>
          <a:solidFill>
            <a:srgbClr val="F3F7F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7" name="Shape 15"/>
          <p:cNvSpPr/>
          <p:nvPr/>
        </p:nvSpPr>
        <p:spPr>
          <a:xfrm>
            <a:off x="9578340" y="3310128"/>
            <a:ext cx="502920" cy="502920"/>
          </a:xfrm>
          <a:prstGeom prst="ellipse">
            <a:avLst/>
          </a:prstGeom>
          <a:solidFill>
            <a:srgbClr val="B07D4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6"/>
          <p:cNvSpPr/>
          <p:nvPr/>
        </p:nvSpPr>
        <p:spPr>
          <a:xfrm>
            <a:off x="9578340" y="33101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366760" y="3995928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40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收斂討論：哪些行為在任何產業都適用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94360" y="582472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E71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建議時間：40 分鐘（個人 10 分鐘 · 小組 20 分鐘 · 全班收斂 10 分鐘）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B07D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模組二：企業文化與組織適應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555480" y="2926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100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06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B3A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能力培育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94360" y="1243584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Competency Development</a:t>
            </a:r>
            <a:r>
              <a:rPr lang="en-US" sz="1150" dirty="0">
                <a:solidFill>
                  <a:srgbClr val="A8B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|   </a:t>
            </a:r>
            <a:r>
              <a:rPr lang="en-US" sz="1150" i="1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Phát triển năng lực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94360" y="2121408"/>
            <a:ext cx="5303520" cy="3246120"/>
          </a:xfrm>
          <a:prstGeom prst="roundRect">
            <a:avLst>
              <a:gd name="adj" fmla="val 2254"/>
            </a:avLst>
          </a:prstGeom>
          <a:solidFill>
            <a:srgbClr val="F3F7F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960120" y="2532888"/>
            <a:ext cx="868680" cy="868680"/>
          </a:xfrm>
          <a:prstGeom prst="ellipse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960120" y="2532888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理解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960120" y="358444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3A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理解力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960120" y="3968496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觀察組織中的人際動力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263640" y="2121408"/>
            <a:ext cx="5303520" cy="3246120"/>
          </a:xfrm>
          <a:prstGeom prst="roundRect">
            <a:avLst>
              <a:gd name="adj" fmla="val 2254"/>
            </a:avLst>
          </a:prstGeom>
          <a:solidFill>
            <a:srgbClr val="F3F7F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2" name="Shape 10"/>
          <p:cNvSpPr/>
          <p:nvPr/>
        </p:nvSpPr>
        <p:spPr>
          <a:xfrm>
            <a:off x="6629400" y="2532888"/>
            <a:ext cx="868680" cy="868680"/>
          </a:xfrm>
          <a:prstGeom prst="ellipse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/>
          <p:nvPr/>
        </p:nvSpPr>
        <p:spPr>
          <a:xfrm>
            <a:off x="6629400" y="2532888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創造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6629400" y="358444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3A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創造力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629400" y="3968496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建立個人的職場支持系統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594360" y="5614416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E71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三力整合：理解力（輸入）→ 創造力（轉化）→ 溝通力（輸出）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29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B07D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模組二：企業文化與組織適應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555480" y="2926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100" dirty="0">
                <a:solidFill>
                  <a:srgbClr val="9FB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06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課後討論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94360" y="1243584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A9C0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Discussion Question</a:t>
            </a:r>
            <a:r>
              <a:rPr lang="en-US" sz="1150" dirty="0">
                <a:solidFill>
                  <a:srgbClr val="6E8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|   </a:t>
            </a:r>
            <a:r>
              <a:rPr lang="en-US" sz="1150" i="1" dirty="0">
                <a:solidFill>
                  <a:srgbClr val="A9C0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Câu hỏi thảo luận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94360" y="2075688"/>
            <a:ext cx="10972800" cy="2743200"/>
          </a:xfrm>
          <a:prstGeom prst="roundRect">
            <a:avLst>
              <a:gd name="adj" fmla="val 2667"/>
            </a:avLst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1097280" y="2304288"/>
            <a:ext cx="99669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4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剛進入新公司時，你會採取哪些具體的行動來快速熟悉團隊成員並融入文化？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94360" y="512064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07D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本週核心訊息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544068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600"/>
              </a:lnSpc>
              <a:buNone/>
            </a:pPr>
            <a:r>
              <a:rPr lang="en-US" sz="1700" i="1" dirty="0">
                <a:solidFill>
                  <a:srgbClr val="D6E4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新人最稀缺的不是能力，而是可靠。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528</Words>
  <Application>Microsoft Office PowerPoint</Application>
  <PresentationFormat>寬螢幕</PresentationFormat>
  <Paragraphs>106</Paragraphs>
  <Slides>8</Slides>
  <Notes>8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8</vt:i4>
      </vt:variant>
    </vt:vector>
  </HeadingPairs>
  <TitlesOfParts>
    <vt:vector size="11" baseType="lpstr">
      <vt:lpstr>Microsoft JhengHei</vt:lpstr>
      <vt:lpstr>Arial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職場倫理與溝通｜第 6 週</dc:title>
  <dc:subject>PptxGenJS Presentation</dc:subject>
  <dc:creator>敏實科技大學 餐飲管理系</dc:creator>
  <cp:lastModifiedBy>玉山 劉</cp:lastModifiedBy>
  <cp:revision>1</cp:revision>
  <dcterms:created xsi:type="dcterms:W3CDTF">2026-08-25T05:14:20Z</dcterms:created>
  <dcterms:modified xsi:type="dcterms:W3CDTF">2026-08-25T11:04:26Z</dcterms:modified>
</cp:coreProperties>
</file>